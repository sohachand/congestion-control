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Reno</c:v>
                </c:pt>
              </c:strCache>
            </c:strRef>
          </c:tx>
          <c:spPr>
            <a:solidFill>
              <a:srgbClr val="3A5A78"/>
            </a:solidFill>
            <a:ln w="38100" cap="flat">
              <a:solidFill>
                <a:srgbClr val="3A5A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5A78"/>
              </a:solidFill>
              <a:ln w="9525" cap="flat">
                <a:solidFill>
                  <a:srgbClr val="3A5A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17</c:v>
                </c:pt>
                <c:pt idx="6">
                  <c:v>18</c:v>
                </c:pt>
                <c:pt idx="7">
                  <c:v>19</c:v>
                </c:pt>
                <c:pt idx="8">
                  <c:v>20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Tahoe</c:v>
                </c:pt>
              </c:strCache>
            </c:strRef>
          </c:tx>
          <c:spPr>
            <a:solidFill>
              <a:srgbClr val="9A9A9A"/>
            </a:solidFill>
            <a:ln w="38100" cap="flat">
              <a:solidFill>
                <a:srgbClr val="9A9A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9A9A"/>
              </a:solidFill>
              <a:ln w="9525" cap="flat">
                <a:solidFill>
                  <a:srgbClr val="9A9A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17</c:v>
                </c:pt>
                <c:pt idx="6">
                  <c:v>18</c:v>
                </c:pt>
                <c:pt idx="7">
                  <c:v>19</c:v>
                </c:pt>
                <c:pt idx="8">
                  <c:v>20</c:v>
                </c:pt>
                <c:pt idx="9">
                  <c:v>1</c:v>
                </c:pt>
                <c:pt idx="10">
                  <c:v>2</c:v>
                </c:pt>
                <c:pt idx="11">
                  <c:v>4</c:v>
                </c:pt>
                <c:pt idx="12">
                  <c:v>8</c:v>
                </c:pt>
                <c:pt idx="13">
                  <c:v>10</c:v>
                </c:pt>
                <c:pt idx="14">
                  <c:v>11</c:v>
                </c:pt>
                <c:pt idx="15">
                  <c:v>12</c:v>
                </c:pt>
                <c:pt idx="16">
                  <c:v>13</c:v>
                </c:pt>
                <c:pt idx="17">
                  <c:v>14</c:v>
                </c:pt>
                <c:pt idx="18">
                  <c:v>15</c:v>
                </c:pt>
                <c:pt idx="19">
                  <c:v>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E6E6E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6E6E6E"/>
                    </a:solidFill>
                    <a:latin typeface="Calibri"/>
                  </a:rPr>
                  <a:t>Step (loss happens at step 9)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E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E6E6E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6E6E6E"/>
                    </a:solidFill>
                    <a:latin typeface="Calibri"/>
                  </a:rPr>
                  <a:t>cwnd (packets per round)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E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6262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— Mini Project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2860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Congestion Control Lab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congestion window, leaky bucket and token bucket shaping, and a Packet Tracer QoS lab built to enforce the same ideas on a router.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49377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Chand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2578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deck covers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440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8686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D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1563624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uncontrolled sending collapses a shared link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35624" y="1444752"/>
            <a:ext cx="5440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517904"/>
            <a:ext cx="8686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D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95744" y="1563624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TCP Congestion Window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095744" y="194767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start, congestion avoidance, Reno vs. Tahoe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96896"/>
            <a:ext cx="5440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670048"/>
            <a:ext cx="8686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D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08760" y="2715768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Leaky Bucket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508760" y="309981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Strict, constant-rate traffic shaping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35624" y="2596896"/>
            <a:ext cx="5440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2670048"/>
            <a:ext cx="8686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D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095744" y="2715768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Bucket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095744" y="309981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Burst-tolerant shaping — and real router QoS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5440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822192"/>
            <a:ext cx="8686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D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508760" y="3867912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Packet Tracer Lab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508760" y="42519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two-router WAN built, addressed and QoS-shaped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35624" y="3749040"/>
            <a:ext cx="5440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3822192"/>
            <a:ext cx="8686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D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095744" y="3867912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Real-World Use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095744" y="42519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simulations show, and where this runs in production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shared link, and no one in charge of it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 has a finite capacity, but senders don't know that capacity in advance — they only find out by sending.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several flows push data onto the same bottleneck at once, queues build, delay climbs, and routers start dropping packets.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unmanaged, this spirals into congestion collapse: retransmissions add more load to an already-overloaded link.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have to cooperate to prevent it — the end host (TCP's own congestion window) and the network itself (traffic-shaping queues).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topic matters because it's invisible when it works: every video call, download and web page relies on these mechanisms running correctly, unnoticed, thousands of times a second.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3720" y="1783080"/>
            <a:ext cx="4754880" cy="4206240"/>
          </a:xfrm>
          <a:prstGeom prst="rect">
            <a:avLst/>
          </a:prstGeom>
          <a:solidFill>
            <a:srgbClr val="36363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20116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congestion control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0" y="25603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load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223760" y="2871216"/>
            <a:ext cx="4114800" cy="219456"/>
          </a:xfrm>
          <a:prstGeom prst="roundRect">
            <a:avLst>
              <a:gd name="adj" fmla="val 25000"/>
            </a:avLst>
          </a:prstGeom>
          <a:solidFill>
            <a:srgbClr val="404040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0" y="2871216"/>
            <a:ext cx="3785616" cy="219456"/>
          </a:xfrm>
          <a:prstGeom prst="roundRect">
            <a:avLst>
              <a:gd name="adj" fmla="val 25000"/>
            </a:avLst>
          </a:prstGeom>
          <a:solidFill>
            <a:srgbClr val="9A9A9A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34747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223760" y="3785616"/>
            <a:ext cx="4114800" cy="219456"/>
          </a:xfrm>
          <a:prstGeom prst="roundRect">
            <a:avLst>
              <a:gd name="adj" fmla="val 25000"/>
            </a:avLst>
          </a:prstGeom>
          <a:solidFill>
            <a:srgbClr val="404040"/>
          </a:solidFill>
          <a:ln/>
        </p:spPr>
      </p:sp>
      <p:sp>
        <p:nvSpPr>
          <p:cNvPr id="12" name="Shape 10"/>
          <p:cNvSpPr/>
          <p:nvPr/>
        </p:nvSpPr>
        <p:spPr>
          <a:xfrm>
            <a:off x="7223760" y="3785616"/>
            <a:ext cx="3291840" cy="219456"/>
          </a:xfrm>
          <a:prstGeom prst="roundRect">
            <a:avLst>
              <a:gd name="adj" fmla="val 25000"/>
            </a:avLst>
          </a:prstGeom>
          <a:solidFill>
            <a:srgbClr val="9A9A9A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43891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throughput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223760" y="4700016"/>
            <a:ext cx="4114800" cy="219456"/>
          </a:xfrm>
          <a:prstGeom prst="roundRect">
            <a:avLst>
              <a:gd name="adj" fmla="val 25000"/>
            </a:avLst>
          </a:prstGeom>
          <a:solidFill>
            <a:srgbClr val="404040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3760" y="4700016"/>
            <a:ext cx="905256" cy="219456"/>
          </a:xfrm>
          <a:prstGeom prst="roundRect">
            <a:avLst>
              <a:gd name="adj" fmla="val 25000"/>
            </a:avLst>
          </a:prstGeom>
          <a:solidFill>
            <a:srgbClr val="8FB4D9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53949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load rises past capacity, throughput actually delivered collapses — the textbook signature of congestion collapse.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set out to build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39696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08483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3A5A78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0848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 TCP's window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52044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Round-by-round slow start, congestion avoidance, and loss recovery under Reno and Tahoe.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89504" y="1828800"/>
            <a:ext cx="2139696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208483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3A5A78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20848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90672" y="27889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 leaky bucket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90672" y="352044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fixed-rate shaper that queues bursts and drops on overflow.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230368" y="1828800"/>
            <a:ext cx="2139696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9824" y="208483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3A5A78"/>
          </a:solidFill>
          <a:ln/>
        </p:spPr>
      </p:sp>
      <p:sp>
        <p:nvSpPr>
          <p:cNvPr id="16" name="Text 14"/>
          <p:cNvSpPr/>
          <p:nvPr/>
        </p:nvSpPr>
        <p:spPr>
          <a:xfrm>
            <a:off x="5449824" y="20848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31536" y="27889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 token bucket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31536" y="352044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burst-tolerant shaper that banks capacity during idle periods.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71232" y="1828800"/>
            <a:ext cx="2139696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90688" y="208483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3A5A78"/>
          </a:solidFill>
          <a:ln/>
        </p:spPr>
      </p:sp>
      <p:sp>
        <p:nvSpPr>
          <p:cNvPr id="21" name="Text 19"/>
          <p:cNvSpPr/>
          <p:nvPr/>
        </p:nvSpPr>
        <p:spPr>
          <a:xfrm>
            <a:off x="7790688" y="20848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0" y="27889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every parameter live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0" y="352044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ssthresh, bucket capacity, rate and burst size as controls — not fixed examples.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912096" y="1828800"/>
            <a:ext cx="2139696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31552" y="208483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3A5A78"/>
          </a:solidFill>
          <a:ln/>
        </p:spPr>
      </p:sp>
      <p:sp>
        <p:nvSpPr>
          <p:cNvPr id="26" name="Text 24"/>
          <p:cNvSpPr/>
          <p:nvPr/>
        </p:nvSpPr>
        <p:spPr>
          <a:xfrm>
            <a:off x="10131552" y="20848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113264" y="27889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 it on real hardware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113264" y="352044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QoS traffic shaping in Packet Tracer as the device-level analogue, with full CLI evidence.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Congestion Window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growth phases, split by a threshold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starts at 1 MSS and doubles every RTT — exponential growth that quickly finds the rough order of magnitude of the path's capacity.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291840"/>
            <a:ext cx="49377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1985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avoidance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cwnd crosses ssthresh, growth switches to +1 segment per RTT — a cautious linear probe for any headroom left.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681728"/>
            <a:ext cx="49377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09744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15721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ssthresh → half of cwnd. Tahoe resets to 1 and restarts; Reno's fast recovery resumes straight from the new ssthresh.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55080" y="1783080"/>
            <a:ext cx="5303520" cy="4206240"/>
          </a:xfrm>
          <a:prstGeom prst="rect">
            <a:avLst/>
          </a:prstGeom>
          <a:solidFill>
            <a:srgbClr val="36363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01168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Tahoe vs. Reno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2450592"/>
            <a:ext cx="2651760" cy="402336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45059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TAHOE — full restart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9260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→ 1 MSS, slow start from scratch. Simple, but slow to recover.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3703320"/>
            <a:ext cx="2651760" cy="402336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7033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 — fast recovery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417880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→ new ssthresh directly, congestion avoidance resumes at once. Faster recovery, same caution afterward.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29400" y="51206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treat a loss as proof the path is full — they differ only in how quickly they trust the network again.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Run — TCP Reno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saw-tooth: 45 RTT rounds, ssthresh = 16 MSS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5" name="Image 0" descr="evidence/fig_cwnd_sawtoo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822960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35440" y="2331720"/>
            <a:ext cx="2240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climb 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ssthresh in slow start
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climb 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it, in congestion avoidance
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Halving, not reset 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loss — Reno's signature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visualizer — TCP Window panel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417320" y="1600200"/>
            <a:ext cx="9326880" cy="4846320"/>
          </a:xfrm>
          <a:prstGeom prst="rect">
            <a:avLst/>
          </a:prstGeom>
          <a:solidFill>
            <a:srgbClr val="363636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5" name="Image 0" descr="evidence/shot_cw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737360"/>
            <a:ext cx="901598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Bucket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tap that drains at one constant rate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8580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9339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Arrivals are bursty; the leak is not.</a:t>
            </a:r>
            <a:endParaRPr lang="en-US" sz="1600" dirty="0"/>
          </a:p>
        </p:txBody>
      </p:sp>
      <p:pic>
        <p:nvPicPr>
          <p:cNvPr id="6" name="Image 0" descr="evidence/fig_leaky_bu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87168"/>
            <a:ext cx="6492240" cy="2715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783080"/>
            <a:ext cx="4069080" cy="4206240"/>
          </a:xfrm>
          <a:prstGeom prst="rect">
            <a:avLst/>
          </a:prstGeom>
          <a:solidFill>
            <a:srgbClr val="36363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2057400"/>
            <a:ext cx="3566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queue in a bucket of fixed capacity.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 leaks (forwards) at a fixed rate every tick, no matter the input.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perfectly smoothed — but a burst beyond capacity overflows and is dropped, exactly like sustained overload.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benefit from being idle beforehand.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visualizer — Leaky Bucket panel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417320" y="1600200"/>
            <a:ext cx="9326880" cy="4846320"/>
          </a:xfrm>
          <a:prstGeom prst="rect">
            <a:avLst/>
          </a:prstGeom>
          <a:solidFill>
            <a:srgbClr val="363636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5" name="Image 0" descr="evidence/shot_lea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737360"/>
            <a:ext cx="901598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Bucket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Idle time is capacity banked for later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8580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9339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packet needs a token; an empty bucket is the only reason to drop.</a:t>
            </a:r>
            <a:endParaRPr lang="en-US" sz="1600" dirty="0"/>
          </a:p>
        </p:txBody>
      </p:sp>
      <p:pic>
        <p:nvPicPr>
          <p:cNvPr id="6" name="Image 0" descr="evidence/fig_token_bu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87168"/>
            <a:ext cx="6492240" cy="2715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783080"/>
            <a:ext cx="4069080" cy="4206240"/>
          </a:xfrm>
          <a:prstGeom prst="rect">
            <a:avLst/>
          </a:prstGeom>
          <a:solidFill>
            <a:srgbClr val="36363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2057400"/>
            <a:ext cx="3566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accumulate at a fixed rate, up to the bucket's capacity.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packet leaves only if it can claim — and spend — a token.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idle source banks tokens, so the next burst can leave immediately, up to the banked amount.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shaper behind most real QoS policers — including the one configured next.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visualizer — Token Bucket panel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417320" y="1600200"/>
            <a:ext cx="9326880" cy="4846320"/>
          </a:xfrm>
          <a:prstGeom prst="rect">
            <a:avLst/>
          </a:prstGeom>
          <a:solidFill>
            <a:srgbClr val="363636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5" name="Image 0" descr="evidence/shot_to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737360"/>
            <a:ext cx="901598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Leaky bucket vs. token bucket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377440" cy="768096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74520"/>
            <a:ext cx="20482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926080" y="1874520"/>
            <a:ext cx="4343400" cy="768096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0672" y="1874520"/>
            <a:ext cx="4014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bucket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269480" y="1874520"/>
            <a:ext cx="4343400" cy="768096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34072" y="1874520"/>
            <a:ext cx="4014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bucket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642616"/>
            <a:ext cx="23774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642616"/>
            <a:ext cx="20482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rate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2926080" y="2642616"/>
            <a:ext cx="4343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2642616"/>
            <a:ext cx="4014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Constant, regardless of input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269480" y="2642616"/>
            <a:ext cx="4343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34072" y="2642616"/>
            <a:ext cx="4014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burst rate, then capped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10712"/>
            <a:ext cx="23774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410712"/>
            <a:ext cx="20482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bursts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2926080" y="3410712"/>
            <a:ext cx="4343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3410712"/>
            <a:ext cx="4014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smooths everything equally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269480" y="3410712"/>
            <a:ext cx="4343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34072" y="3410712"/>
            <a:ext cx="4014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up to banked tokens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178808"/>
            <a:ext cx="23774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178808"/>
            <a:ext cx="20482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behaviour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2926080" y="4178808"/>
            <a:ext cx="4343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4178808"/>
            <a:ext cx="4014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benefit from idling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7269480" y="4178808"/>
            <a:ext cx="4343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34072" y="4178808"/>
            <a:ext cx="4014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tokens for a future burst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48640" y="4946904"/>
            <a:ext cx="23774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946904"/>
            <a:ext cx="20482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condition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2926080" y="4946904"/>
            <a:ext cx="4343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90672" y="4946904"/>
            <a:ext cx="4014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(queue) full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7269480" y="4946904"/>
            <a:ext cx="4343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34072" y="4946904"/>
            <a:ext cx="4014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 available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548640" y="5715000"/>
            <a:ext cx="23774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715000"/>
            <a:ext cx="20482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2926080" y="5715000"/>
            <a:ext cx="4343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90672" y="5715000"/>
            <a:ext cx="4014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rate smoothing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7269480" y="5715000"/>
            <a:ext cx="4343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34072" y="5715000"/>
            <a:ext cx="40142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policing (CIR / burst-size)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Congestion Demo — the jam, then the fix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OFF, no shaper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54880" y="17373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ON + leaky bucket</a:t>
            </a:r>
            <a:endParaRPr lang="en-US" sz="1500" dirty="0"/>
          </a:p>
        </p:txBody>
      </p:sp>
      <p:pic>
        <p:nvPicPr>
          <p:cNvPr id="6" name="Image 0" descr="evidence/shot_jam_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40280"/>
            <a:ext cx="4069080" cy="4194928"/>
          </a:xfrm>
          <a:prstGeom prst="rect">
            <a:avLst/>
          </a:prstGeom>
        </p:spPr>
      </p:pic>
      <p:pic>
        <p:nvPicPr>
          <p:cNvPr id="7" name="Image 1" descr="evidence/shot_jam_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40280"/>
            <a:ext cx="4069080" cy="41949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98280" y="2240280"/>
            <a:ext cx="2697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senders share one link that carries 20 packets per round.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OFF: they push 72 per round, the queue sits full and 72% of packets are lost.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senders halve on loss and speed up gently, so the rate hovers around 20 and loss is near 0.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 keeps the router queue from overflowing. TCP makes the senders slow down. Both are needed.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TCP window: Reno recovers faster than Tahoe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858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run shows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0" y="2148840"/>
            <a:ext cx="3931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start at 1 and double: 1, 2, 4, 8, 16 (slow start), then add 1 per round up to 20.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loss at cwnd = 20 halves the threshold: ssthresh becomes 10.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 drops straight to 10 and keeps adding 1.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Tahoe drops to 1 and doubles back (1, 2, 4, 8, 10) before adding 1.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after the loss: Reno is at 14, Tahoe is at 10.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Leaky vs. token bucket: when packets leave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768096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783080"/>
            <a:ext cx="24871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(rate 2 per half second)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4160520" cy="768096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9856" y="1783080"/>
            <a:ext cx="39044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bucket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52360" y="1783080"/>
            <a:ext cx="4160520" cy="768096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0376" y="1783080"/>
            <a:ext cx="39044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bucket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551176"/>
            <a:ext cx="27432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551176"/>
            <a:ext cx="24871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of 8 (capacity 20)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551176"/>
            <a:ext cx="416052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2551176"/>
            <a:ext cx="39044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0, 2, 4, 6, 8 over 2 seconds. 0 dropped.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52360" y="2551176"/>
            <a:ext cx="416052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0376" y="2551176"/>
            <a:ext cx="39044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8 at once. Tokens 20 to 12. 0 dropped.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19272"/>
            <a:ext cx="27432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319272"/>
            <a:ext cx="24871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of 20 (capacity 20)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3319272"/>
            <a:ext cx="416052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3319272"/>
            <a:ext cx="39044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20 / 20. Sent 8 after 2 seconds, all 20 after 5. 0 dropped.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52360" y="3319272"/>
            <a:ext cx="416052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0376" y="3319272"/>
            <a:ext cx="39044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20 at once. Tokens 0. 0 dropped.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087368"/>
            <a:ext cx="27432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4087368"/>
            <a:ext cx="24871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bursts of 20, back to back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4087368"/>
            <a:ext cx="416052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9856" y="4087368"/>
            <a:ext cx="39044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fills the bucket. Second: 20 dropped.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52360" y="4087368"/>
            <a:ext cx="416052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0376" y="4087368"/>
            <a:ext cx="39044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uses all tokens. Second: 20 dropped.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855464"/>
            <a:ext cx="27432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855464"/>
            <a:ext cx="24871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of 15, capacity 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4855464"/>
            <a:ext cx="416052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9856" y="4855464"/>
            <a:ext cx="39044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queued, 10 dropped. The 5 leave over about 1.5 seconds.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52360" y="4855464"/>
            <a:ext cx="416052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0376" y="4855464"/>
            <a:ext cx="39044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sent at once, 10 dropped.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drop whatever exceeds their capacity. The difference is when packets leave: the leaky bucket spreads them out, the token bucket lets them go at once.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Congestion Demo: the four combinations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286000" cy="768096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783080"/>
            <a:ext cx="20299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834640" y="1783080"/>
            <a:ext cx="2011680" cy="768096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62656" y="1783080"/>
            <a:ext cx="1755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846320" y="1783080"/>
            <a:ext cx="6766560" cy="768096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74336" y="1783080"/>
            <a:ext cx="65105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show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551176"/>
            <a:ext cx="22860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551176"/>
            <a:ext cx="20299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834640" y="2551176"/>
            <a:ext cx="2011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2551176"/>
            <a:ext cx="1755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46320" y="2551176"/>
            <a:ext cx="67665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74336" y="2551176"/>
            <a:ext cx="65105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packets sent per round into a 20-packet link. Queue stuck at 30 / 30. 72% lost.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319272"/>
            <a:ext cx="22860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319272"/>
            <a:ext cx="20299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834640" y="3319272"/>
            <a:ext cx="2011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62656" y="3319272"/>
            <a:ext cx="1755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bucket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846320" y="3319272"/>
            <a:ext cx="67665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3319272"/>
            <a:ext cx="65105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queue protected, but the shaper drops about 52 per round. Loss still 72%: the senders keep over-sending.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087368"/>
            <a:ext cx="22860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4087368"/>
            <a:ext cx="20299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834640" y="4087368"/>
            <a:ext cx="2011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62656" y="4087368"/>
            <a:ext cx="1755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846320" y="4087368"/>
            <a:ext cx="67665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4087368"/>
            <a:ext cx="65105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settles around 18 to 24 per round. Almost no loss.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855464"/>
            <a:ext cx="22860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855464"/>
            <a:ext cx="20299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2834640" y="4855464"/>
            <a:ext cx="2011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62656" y="4855464"/>
            <a:ext cx="1755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bucket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846320" y="4855464"/>
            <a:ext cx="67665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4855464"/>
            <a:ext cx="65105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steady near 20. About 10 packets dropped in 20 rounds.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senders, link capacity 20 per round, queue 30, shaper rate 20. A bucket alone moves the drops to the edge. The senders must slow down too.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simulator does not claim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simplified model of the algorithms. It does not carry real network traffic.</a:t>
            </a:r>
            <a:endParaRPr lang="en-US" sz="170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TCP tab, packet loss is simulated: it fires at random (about 3% per round once speeding up) or when the button is pressed. It is not caused by a real overloaded link.</a:t>
            </a:r>
            <a:endParaRPr lang="en-US" sz="170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Congestion Demo the queue really overflows inside the model, but the senders are simplified TCP senders and the units are packets per round, not real bandwidth.</a:t>
            </a:r>
            <a:endParaRPr lang="en-US" sz="170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Leaky and Token Bucket tabs show the mechanism only. The link behind the bucket appears in the Congestion Demo.</a:t>
            </a:r>
            <a:endParaRPr lang="en-US" sz="170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bottleneck only. No random early drop (RED), no CUBIC, no real round-trip timing.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Network-Level Enforcement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Packet Tracer — a two-router WAN QoS lab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989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two-router topology (two LANs, four PCs, a routed WAN link) was built and fully addressed, with static routing between both sides.</a:t>
            </a:r>
            <a:endParaRPr lang="en-US" sz="1400" dirty="0"/>
          </a:p>
          <a:p>
            <a:pPr marL="254000" indent="-2540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Router0 is configured with a class-based traffic-shaping policy (MQC: class-map + policy-map, shape average 128 kbps) — a token-bucket-style shaper in real IOS. In Packet Tracer 9.0.1, binding it to the WAN interface blocks all traffic, so the final file keeps the policy configured but not bound.</a:t>
            </a:r>
            <a:endParaRPr lang="en-US" sz="1400" dirty="0"/>
          </a:p>
          <a:p>
            <a:pPr marL="254000" indent="-2540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policy-map interface confirms the shaper's byte limit, sustain/excess burst and queueing parameters on the live device CLI.</a:t>
            </a:r>
            <a:endParaRPr lang="en-US" sz="1400" dirty="0"/>
          </a:p>
          <a:p>
            <a:pPr marL="254000" indent="-2540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IP connectivity was verified with ping across the full path — PC0 to PC2/PC3, through both routers and the WAN link.</a:t>
            </a:r>
            <a:endParaRPr lang="en-US" sz="1400" dirty="0"/>
          </a:p>
          <a:p>
            <a:pPr marL="254000" indent="-2540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configure → verify with show commands → test with extended ping → fix → re-verify — the same checklist used on real production routers.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20840" y="1828800"/>
            <a:ext cx="4937760" cy="4206240"/>
          </a:xfrm>
          <a:prstGeom prst="rect">
            <a:avLst/>
          </a:prstGeom>
          <a:solidFill>
            <a:srgbClr val="363636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6" name="Image 0" descr="evidence/pkt_13_end_to_end_conne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993392"/>
            <a:ext cx="457200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03720" y="44256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PC0 → PC2/PC3 ping, across both routers and the WAN link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903720" y="48463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Topology, device configuration and the full CLI evidence log are attached as the companion Packet Tracer (.pkt) file.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LANs, two routers, one WAN link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22376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5" name="Image 0" descr="evidence/pkt_05_full_top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6858000" cy="42793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783080"/>
            <a:ext cx="3703320" cy="4526280"/>
          </a:xfrm>
          <a:prstGeom prst="rect">
            <a:avLst/>
          </a:prstGeom>
          <a:solidFill>
            <a:srgbClr val="36363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plan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0" y="23957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 / PC1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38360" y="23957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192.168.1.10–11/24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0" y="287121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Router0 Gi0/0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738360" y="287121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192.168.1.1/24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0" y="334670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link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738360" y="33467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10.0.0.0/30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0" y="38221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Router1 Gi0/0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738360" y="38221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192.168.2.1/24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42976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/ PC3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738360" y="42976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192.168.2.10–11/24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29600" y="4892040"/>
            <a:ext cx="320040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0" y="502920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routes on both routers point each LAN at the other, across the point-to-point WAN link.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three simulations show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164592" cy="914400"/>
          </a:xfrm>
          <a:prstGeom prst="roundRect">
            <a:avLst>
              <a:gd name="adj" fmla="val 50000"/>
            </a:avLst>
          </a:prstGeom>
          <a:solidFill>
            <a:srgbClr val="3A5A78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48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TCP Reno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from loss by halving, never by resetting to cwnd = 1 — the saw-tooth renews itself without a full restart.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520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148840"/>
            <a:ext cx="164592" cy="914400"/>
          </a:xfrm>
          <a:prstGeom prst="roundRect">
            <a:avLst>
              <a:gd name="adj" fmla="val 50000"/>
            </a:avLst>
          </a:prstGeom>
          <a:solidFill>
            <a:srgbClr val="3A5A7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148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Leaky Bucket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17720" y="33375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a perfectly flat output rate — at the cost of dropping any burst beyond its fixed capacity, whether malicious or legitimate.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38160" y="1874520"/>
            <a:ext cx="3520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2148840"/>
            <a:ext cx="164592" cy="914400"/>
          </a:xfrm>
          <a:prstGeom prst="roundRect">
            <a:avLst>
              <a:gd name="adj" fmla="val 50000"/>
            </a:avLst>
          </a:prstGeom>
          <a:solidFill>
            <a:srgbClr val="3A5A78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2148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Bucket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412480" y="33375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exactly the burst its banked tokens allow, then settles to the steady rate — the behaviour real QoS policers rely on.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 parameters behind every run shown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286000" cy="768096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83080"/>
            <a:ext cx="19568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34640" y="1783080"/>
            <a:ext cx="4480560" cy="768096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99232" y="1783080"/>
            <a:ext cx="41513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783080"/>
            <a:ext cx="4297680" cy="768096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79792" y="1783080"/>
            <a:ext cx="39684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control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51176"/>
            <a:ext cx="22860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551176"/>
            <a:ext cx="19568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(Reno / Tahoe)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834640" y="2551176"/>
            <a:ext cx="44805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2551176"/>
            <a:ext cx="41513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 = 1 segment · initial ssthresh = 16 MSS · 45 RTT rounds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2551176"/>
            <a:ext cx="4297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2551176"/>
            <a:ext cx="39684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 and the threshold where slow start hands off to congestion avoidance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19272"/>
            <a:ext cx="22860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319272"/>
            <a:ext cx="19568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bucket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834640" y="3319272"/>
            <a:ext cx="44805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9232" y="3319272"/>
            <a:ext cx="41513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= 20 packets · leak rate = 2 packets/tick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0" y="3319272"/>
            <a:ext cx="4297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792" y="3319272"/>
            <a:ext cx="39684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burst can queue before overflow, and how fast it drains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087368"/>
            <a:ext cx="22860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087368"/>
            <a:ext cx="19568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bucket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834640" y="4087368"/>
            <a:ext cx="44805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4087368"/>
            <a:ext cx="41513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= 20 tokens · fill rate = 2 tokens/tick · default burst = 8 packets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15200" y="4087368"/>
            <a:ext cx="4297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9792" y="4087368"/>
            <a:ext cx="39684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idle time converts into an allowed burst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855464"/>
            <a:ext cx="22860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855464"/>
            <a:ext cx="19568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 QoS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834640" y="4855464"/>
            <a:ext cx="44805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4855464"/>
            <a:ext cx="41513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class-map CONGESTION_TEST, policy-map POLICE_OUT, shape average 128 kbps, Router0 Gi0/1 (configured, not bound)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315200" y="4855464"/>
            <a:ext cx="4297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9792" y="4855464"/>
            <a:ext cx="39684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real-device analogue of the token-bucket rate limit above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57881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above is a live control in the visualizer, not a hard-coded constant — these are simply the settings used to produce the charts and screenshots in this deck.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three ideas, running in production networks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931920"/>
          </a:xfrm>
          <a:prstGeom prst="rect">
            <a:avLst/>
          </a:prstGeom>
          <a:solidFill>
            <a:srgbClr val="36363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4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TCP Reno / CUBIC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971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the default congestion control in most operating-system TCP stacks — every web page load and file download rides a variant of this same saw-tooth.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520440" cy="3931920"/>
          </a:xfrm>
          <a:prstGeom prst="rect">
            <a:avLst/>
          </a:prstGeom>
          <a:solidFill>
            <a:srgbClr val="36363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488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4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Leaky bucket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17720" y="2880360"/>
            <a:ext cx="2971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wherever a strictly constant output rate matters more than burst tolerance — e.g. ATM traffic shaping and some strict-priority egress queues.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3520440" cy="3931920"/>
          </a:xfrm>
          <a:prstGeom prst="rect">
            <a:avLst/>
          </a:prstGeom>
          <a:solidFill>
            <a:srgbClr val="36363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1488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4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bucket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0" y="2880360"/>
            <a:ext cx="2971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behind almost every real QoS policer and rate limiter in production — Cisco CIR/burst-size policing, cloud API rate limits, and CDN edge throttling all use this exact mechanism.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207008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mechanisms, one goal: a link that degrades gracefully, never collapses.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149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TCP's congestion window, the leaky bucket, and the token bucket attack the same problem from different layers — the end host, and the network path itself.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every parameter a live control, instead of a fixed textbook example, is what turns the saw-tooth and the overflow drop from a diagram into something watched happening.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equivalent shaping on real router interfaces in Packet Tracer — and working through the simulator issue that came with it — closes the loop from algorithm to actual device configuration.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token-bucket logic configured here underlies real QoS policers in production networks, which is what makes this lab more than a classroom exercise.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Lab — Computer Networks Mini Project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8686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
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Kurose &amp; Ross, Computer Networking: A Top-Down Approach, 8th ed.
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Tanenbaum &amp; Wetherall, Computer Networks, 5th ed.
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Allman, Paxson, Blanton — RFC 5681, TCP Congestion Control.
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Networking Academy — Packet Tracer 9.0.1, QoS Policing &amp; Queuing.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2026-10-12T05:14:06Z</dcterms:created>
  <dcterms:modified xsi:type="dcterms:W3CDTF">2026-10-12T05:14:06Z</dcterms:modified>
</cp:coreProperties>
</file>